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3" r:id="rId2"/>
    <p:sldId id="272" r:id="rId3"/>
    <p:sldId id="257" r:id="rId4"/>
    <p:sldId id="258" r:id="rId5"/>
    <p:sldId id="259" r:id="rId6"/>
    <p:sldId id="260" r:id="rId7"/>
    <p:sldId id="261" r:id="rId8"/>
    <p:sldId id="262" r:id="rId9"/>
    <p:sldId id="263" r:id="rId10"/>
    <p:sldId id="269" r:id="rId11"/>
    <p:sldId id="264" r:id="rId12"/>
    <p:sldId id="265" r:id="rId13"/>
    <p:sldId id="266" r:id="rId14"/>
    <p:sldId id="267" r:id="rId15"/>
    <p:sldId id="268"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3/26/2026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9B0A81-3C95-2B96-AEAA-AC6006257270}"/>
              </a:ext>
            </a:extLst>
          </p:cNvPr>
          <p:cNvPicPr>
            <a:picLocks noGrp="1" noChangeAspect="1"/>
          </p:cNvPicPr>
          <p:nvPr>
            <p:ph idx="1"/>
          </p:nvPr>
        </p:nvPicPr>
        <p:blipFill>
          <a:blip r:embed="rId2"/>
          <a:stretch>
            <a:fillRect/>
          </a:stretch>
        </p:blipFill>
        <p:spPr>
          <a:xfrm>
            <a:off x="115661" y="0"/>
            <a:ext cx="11960678" cy="6533536"/>
          </a:xfrm>
          <a:prstGeom prst="rect">
            <a:avLst/>
          </a:prstGeom>
        </p:spPr>
      </p:pic>
    </p:spTree>
    <p:extLst>
      <p:ext uri="{BB962C8B-B14F-4D97-AF65-F5344CB8AC3E}">
        <p14:creationId xmlns:p14="http://schemas.microsoft.com/office/powerpoint/2010/main" val="2252465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718E8-AED7-782E-4927-9CCA11335197}"/>
              </a:ext>
            </a:extLst>
          </p:cNvPr>
          <p:cNvSpPr>
            <a:spLocks noGrp="1"/>
          </p:cNvSpPr>
          <p:nvPr>
            <p:ph type="title"/>
          </p:nvPr>
        </p:nvSpPr>
        <p:spPr>
          <a:xfrm>
            <a:off x="1892709" y="638432"/>
            <a:ext cx="8229600" cy="1143000"/>
          </a:xfrm>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0E09611E-C7DE-94BC-8356-D0923E9C4D4E}"/>
              </a:ext>
            </a:extLst>
          </p:cNvPr>
          <p:cNvSpPr>
            <a:spLocks noGrp="1"/>
          </p:cNvSpPr>
          <p:nvPr>
            <p:ph idx="1"/>
          </p:nvPr>
        </p:nvSpPr>
        <p:spPr/>
        <p:txBody>
          <a:bodyPr>
            <a:normAutofit/>
          </a:bodyPr>
          <a:lstStyle/>
          <a:p>
            <a:pPr marL="0" indent="0" algn="just">
              <a:buNone/>
            </a:pPr>
            <a:endParaRPr lang="en-US" sz="2000" dirty="0"/>
          </a:p>
          <a:p>
            <a:pPr marL="0" indent="0" algn="just">
              <a:buNone/>
            </a:pPr>
            <a:r>
              <a:rPr lang="en-US" sz="2000" dirty="0"/>
              <a:t>With the rapid growth of cloud computing, ensuring data security has become a critical concern, especially when storing sensitive information on cloud platforms such as Amazon Web Services (AWS) S3. This project focuses on implementing client-side encryption to enhance the security of data before it is uploaded to AWS S3. In this approach, data is encrypted at the user’s end using strong cryptographic techniques, ensuring that only encrypted data is stored in the cloud. Unlike server-side encryption, client-side encryption provides complete control over encryption keys, thereby reducing the risk of unauthorized access and data </a:t>
            </a:r>
            <a:r>
              <a:rPr lang="en-US" sz="2000" dirty="0" err="1"/>
              <a:t>breaches.The</a:t>
            </a:r>
            <a:r>
              <a:rPr lang="en-US" sz="2000" dirty="0"/>
              <a:t> system uses encryption algorithms to convert plaintext data into ciphertext before transmission, and only authorized users with the correct decryption keys can access the original content. This ensures data confidentiality even if the cloud storage is compromised. The project demonstrates how client-side encryption can be integrated with AWS S3 services to create a secure and reliable storage solution. Overall, this approach significantly enhances data privacy, security, and trust in cloud storage systems, making it suitable for handling sensitive and critical information.</a:t>
            </a:r>
          </a:p>
          <a:p>
            <a:pPr algn="just"/>
            <a:endParaRPr lang="en-IN" sz="2000" dirty="0"/>
          </a:p>
        </p:txBody>
      </p:sp>
    </p:spTree>
    <p:extLst>
      <p:ext uri="{BB962C8B-B14F-4D97-AF65-F5344CB8AC3E}">
        <p14:creationId xmlns:p14="http://schemas.microsoft.com/office/powerpoint/2010/main" val="1899837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 / Outline</a:t>
            </a:r>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a:t>Abstract</a:t>
            </a:r>
          </a:p>
          <a:p>
            <a:pPr marL="514350" indent="-514350">
              <a:buFont typeface="+mj-lt"/>
              <a:buAutoNum type="arabicPeriod"/>
            </a:pPr>
            <a:r>
              <a:rPr lang="en-US" dirty="0"/>
              <a:t>Introduction </a:t>
            </a:r>
          </a:p>
          <a:p>
            <a:pPr marL="514350" indent="-514350">
              <a:buFont typeface="+mj-lt"/>
              <a:buAutoNum type="arabicPeriod"/>
            </a:pPr>
            <a:r>
              <a:rPr lang="en-US" dirty="0"/>
              <a:t>Literature Review </a:t>
            </a:r>
          </a:p>
          <a:p>
            <a:pPr marL="514350" indent="-514350">
              <a:buFont typeface="+mj-lt"/>
              <a:buAutoNum type="arabicPeriod"/>
            </a:pPr>
            <a:r>
              <a:rPr lang="en-US" dirty="0"/>
              <a:t>Existing System </a:t>
            </a:r>
          </a:p>
          <a:p>
            <a:pPr marL="514350" indent="-514350">
              <a:buFont typeface="+mj-lt"/>
              <a:buAutoNum type="arabicPeriod"/>
            </a:pPr>
            <a:r>
              <a:rPr lang="en-US" dirty="0"/>
              <a:t>Objectives &amp; Constraints </a:t>
            </a:r>
          </a:p>
          <a:p>
            <a:pPr marL="514350" indent="-514350">
              <a:buFont typeface="+mj-lt"/>
              <a:buAutoNum type="arabicPeriod"/>
            </a:pPr>
            <a:r>
              <a:rPr lang="en-US" dirty="0"/>
              <a:t>Feasibility Analysis </a:t>
            </a:r>
          </a:p>
          <a:p>
            <a:pPr marL="514350" indent="-514350">
              <a:buFont typeface="+mj-lt"/>
              <a:buAutoNum type="arabicPeriod"/>
            </a:pPr>
            <a:r>
              <a:rPr lang="en-US" dirty="0"/>
              <a:t>Proposed System </a:t>
            </a:r>
          </a:p>
          <a:p>
            <a:pPr marL="514350" indent="-514350">
              <a:buFont typeface="+mj-lt"/>
              <a:buAutoNum type="arabicPeriod"/>
            </a:pPr>
            <a:r>
              <a:rPr lang="en-US" dirty="0"/>
              <a:t>Conclusion </a:t>
            </a: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a:xfrm>
            <a:off x="393289" y="1621657"/>
            <a:ext cx="11464413" cy="5236343"/>
          </a:xfrm>
        </p:spPr>
        <p:txBody>
          <a:bodyPr>
            <a:normAutofit fontScale="25000" lnSpcReduction="20000"/>
          </a:bodyPr>
          <a:lstStyle/>
          <a:p>
            <a:pPr marL="0" indent="0" algn="just">
              <a:buNone/>
            </a:pPr>
            <a:r>
              <a:rPr lang="en-US" sz="8400" dirty="0"/>
              <a:t>Cloud storage has become an essential part of modern computing due to its high scalability, flexibility, and ease of access from anywhere in the world. Services like Amazon S3 are widely used by organizations and individuals to store vast amounts of data, including highly sensitive information such as personal records, financial data, and confidential business documents. However, as the reliance on cloud storage increases, so do the risks associated with data security. One of the major concerns is the possibility of data breaches and unauthorized access, which can lead to serious consequences such as data loss, privacy violations, and financial damage. Although cloud providers offer server-side encryption to protect stored data, it is not always considered completely secure because the encryption process is managed by the service provider itself, leaving a level of dependency and potential vulnerability. This approach guarantees that only encrypted data is stored in the cloud, and only authorized users with the correct decryption keys can access the original information. As a result, even if unauthorized access occurs, the data remains unreadable and secure. This project is motivated by the need to enhance data protection in cloud environments by implementing client-side encryption, thereby providing an additional layer of security and greater control to users over their sensitive information.</a:t>
            </a:r>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Literature Review (Papers)</a:t>
            </a:r>
          </a:p>
        </p:txBody>
      </p:sp>
      <p:graphicFrame>
        <p:nvGraphicFramePr>
          <p:cNvPr id="3" name="Table 2"/>
          <p:cNvGraphicFramePr>
            <a:graphicFrameLocks noGrp="1"/>
          </p:cNvGraphicFramePr>
          <p:nvPr>
            <p:extLst>
              <p:ext uri="{D42A27DB-BD31-4B8C-83A1-F6EECF244321}">
                <p14:modId xmlns:p14="http://schemas.microsoft.com/office/powerpoint/2010/main" val="2339570119"/>
              </p:ext>
            </p:extLst>
          </p:nvPr>
        </p:nvGraphicFramePr>
        <p:xfrm>
          <a:off x="1853381" y="1912375"/>
          <a:ext cx="8229600" cy="36576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914400">
                <a:tc>
                  <a:txBody>
                    <a:bodyPr/>
                    <a:lstStyle/>
                    <a:p>
                      <a:r>
                        <a:t>Paper Title</a:t>
                      </a:r>
                    </a:p>
                  </a:txBody>
                  <a:tcPr/>
                </a:tc>
                <a:tc>
                  <a:txBody>
                    <a:bodyPr/>
                    <a:lstStyle/>
                    <a:p>
                      <a:r>
                        <a:rPr dirty="0"/>
                        <a:t>Authors</a:t>
                      </a:r>
                    </a:p>
                  </a:txBody>
                  <a:tcPr/>
                </a:tc>
                <a:tc>
                  <a:txBody>
                    <a:bodyPr/>
                    <a:lstStyle/>
                    <a:p>
                      <a:r>
                        <a:t>Year</a:t>
                      </a:r>
                    </a:p>
                  </a:txBody>
                  <a:tcPr/>
                </a:tc>
                <a:tc>
                  <a:txBody>
                    <a:bodyPr/>
                    <a:lstStyle/>
                    <a:p>
                      <a:r>
                        <a:t>Key Idea</a:t>
                      </a:r>
                    </a:p>
                  </a:txBody>
                  <a:tcPr/>
                </a:tc>
                <a:extLst>
                  <a:ext uri="{0D108BD9-81ED-4DB2-BD59-A6C34878D82A}">
                    <a16:rowId xmlns:a16="http://schemas.microsoft.com/office/drawing/2014/main" val="10000"/>
                  </a:ext>
                </a:extLst>
              </a:tr>
              <a:tr h="914400">
                <a:tc>
                  <a:txBody>
                    <a:bodyPr/>
                    <a:lstStyle/>
                    <a:p>
                      <a:r>
                        <a:t>Secure Cloud Storage</a:t>
                      </a:r>
                    </a:p>
                  </a:txBody>
                  <a:tcPr/>
                </a:tc>
                <a:tc>
                  <a:txBody>
                    <a:bodyPr/>
                    <a:lstStyle/>
                    <a:p>
                      <a:r>
                        <a:t>Smith et al.</a:t>
                      </a:r>
                    </a:p>
                  </a:txBody>
                  <a:tcPr/>
                </a:tc>
                <a:tc>
                  <a:txBody>
                    <a:bodyPr/>
                    <a:lstStyle/>
                    <a:p>
                      <a:r>
                        <a:t>2021</a:t>
                      </a:r>
                    </a:p>
                  </a:txBody>
                  <a:tcPr/>
                </a:tc>
                <a:tc>
                  <a:txBody>
                    <a:bodyPr/>
                    <a:lstStyle/>
                    <a:p>
                      <a:r>
                        <a:t>Encrypt before upload</a:t>
                      </a:r>
                    </a:p>
                  </a:txBody>
                  <a:tcPr/>
                </a:tc>
                <a:extLst>
                  <a:ext uri="{0D108BD9-81ED-4DB2-BD59-A6C34878D82A}">
                    <a16:rowId xmlns:a16="http://schemas.microsoft.com/office/drawing/2014/main" val="10001"/>
                  </a:ext>
                </a:extLst>
              </a:tr>
              <a:tr h="914400">
                <a:tc>
                  <a:txBody>
                    <a:bodyPr/>
                    <a:lstStyle/>
                    <a:p>
                      <a:r>
                        <a:t>Client-Side Encryption</a:t>
                      </a:r>
                    </a:p>
                  </a:txBody>
                  <a:tcPr/>
                </a:tc>
                <a:tc>
                  <a:txBody>
                    <a:bodyPr/>
                    <a:lstStyle/>
                    <a:p>
                      <a:r>
                        <a:t>Kumar &amp; Singh</a:t>
                      </a:r>
                    </a:p>
                  </a:txBody>
                  <a:tcPr/>
                </a:tc>
                <a:tc>
                  <a:txBody>
                    <a:bodyPr/>
                    <a:lstStyle/>
                    <a:p>
                      <a:r>
                        <a:t>2022</a:t>
                      </a:r>
                    </a:p>
                  </a:txBody>
                  <a:tcPr/>
                </a:tc>
                <a:tc>
                  <a:txBody>
                    <a:bodyPr/>
                    <a:lstStyle/>
                    <a:p>
                      <a:r>
                        <a:t>End-to-end security</a:t>
                      </a:r>
                    </a:p>
                  </a:txBody>
                  <a:tcPr/>
                </a:tc>
                <a:extLst>
                  <a:ext uri="{0D108BD9-81ED-4DB2-BD59-A6C34878D82A}">
                    <a16:rowId xmlns:a16="http://schemas.microsoft.com/office/drawing/2014/main" val="10002"/>
                  </a:ext>
                </a:extLst>
              </a:tr>
              <a:tr h="914400">
                <a:tc>
                  <a:txBody>
                    <a:bodyPr/>
                    <a:lstStyle/>
                    <a:p>
                      <a:r>
                        <a:t>AWS Security Practices</a:t>
                      </a:r>
                    </a:p>
                  </a:txBody>
                  <a:tcPr/>
                </a:tc>
                <a:tc>
                  <a:txBody>
                    <a:bodyPr/>
                    <a:lstStyle/>
                    <a:p>
                      <a:r>
                        <a:t>Amazon</a:t>
                      </a:r>
                    </a:p>
                  </a:txBody>
                  <a:tcPr/>
                </a:tc>
                <a:tc>
                  <a:txBody>
                    <a:bodyPr/>
                    <a:lstStyle/>
                    <a:p>
                      <a:r>
                        <a:t>2023</a:t>
                      </a:r>
                    </a:p>
                  </a:txBody>
                  <a:tcPr/>
                </a:tc>
                <a:tc>
                  <a:txBody>
                    <a:bodyPr/>
                    <a:lstStyle/>
                    <a:p>
                      <a:r>
                        <a:rPr dirty="0"/>
                        <a:t>Multi-layer security</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Literature Review (Sources)</a:t>
            </a:r>
          </a:p>
        </p:txBody>
      </p:sp>
      <p:graphicFrame>
        <p:nvGraphicFramePr>
          <p:cNvPr id="3" name="Table 2"/>
          <p:cNvGraphicFramePr>
            <a:graphicFrameLocks noGrp="1"/>
          </p:cNvGraphicFramePr>
          <p:nvPr>
            <p:extLst>
              <p:ext uri="{D42A27DB-BD31-4B8C-83A1-F6EECF244321}">
                <p14:modId xmlns:p14="http://schemas.microsoft.com/office/powerpoint/2010/main" val="953706939"/>
              </p:ext>
            </p:extLst>
          </p:nvPr>
        </p:nvGraphicFramePr>
        <p:xfrm>
          <a:off x="1981200" y="1823884"/>
          <a:ext cx="8229600" cy="3657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914400">
                <a:tc>
                  <a:txBody>
                    <a:bodyPr/>
                    <a:lstStyle/>
                    <a:p>
                      <a:r>
                        <a:rPr dirty="0"/>
                        <a:t>Source</a:t>
                      </a:r>
                    </a:p>
                  </a:txBody>
                  <a:tcPr/>
                </a:tc>
                <a:tc>
                  <a:txBody>
                    <a:bodyPr/>
                    <a:lstStyle/>
                    <a:p>
                      <a:r>
                        <a:t>Description</a:t>
                      </a:r>
                    </a:p>
                  </a:txBody>
                  <a:tcPr/>
                </a:tc>
                <a:tc>
                  <a:txBody>
                    <a:bodyPr/>
                    <a:lstStyle/>
                    <a:p>
                      <a:r>
                        <a:t>Findings</a:t>
                      </a:r>
                    </a:p>
                  </a:txBody>
                  <a:tcPr/>
                </a:tc>
                <a:extLst>
                  <a:ext uri="{0D108BD9-81ED-4DB2-BD59-A6C34878D82A}">
                    <a16:rowId xmlns:a16="http://schemas.microsoft.com/office/drawing/2014/main" val="10000"/>
                  </a:ext>
                </a:extLst>
              </a:tr>
              <a:tr h="914400">
                <a:tc>
                  <a:txBody>
                    <a:bodyPr/>
                    <a:lstStyle/>
                    <a:p>
                      <a:r>
                        <a:t>IEEE Papers</a:t>
                      </a:r>
                    </a:p>
                  </a:txBody>
                  <a:tcPr/>
                </a:tc>
                <a:tc>
                  <a:txBody>
                    <a:bodyPr/>
                    <a:lstStyle/>
                    <a:p>
                      <a:r>
                        <a:t>Cloud security research</a:t>
                      </a:r>
                    </a:p>
                  </a:txBody>
                  <a:tcPr/>
                </a:tc>
                <a:tc>
                  <a:txBody>
                    <a:bodyPr/>
                    <a:lstStyle/>
                    <a:p>
                      <a:r>
                        <a:t>Improves confidentiality</a:t>
                      </a:r>
                    </a:p>
                  </a:txBody>
                  <a:tcPr/>
                </a:tc>
                <a:extLst>
                  <a:ext uri="{0D108BD9-81ED-4DB2-BD59-A6C34878D82A}">
                    <a16:rowId xmlns:a16="http://schemas.microsoft.com/office/drawing/2014/main" val="10001"/>
                  </a:ext>
                </a:extLst>
              </a:tr>
              <a:tr h="914400">
                <a:tc>
                  <a:txBody>
                    <a:bodyPr/>
                    <a:lstStyle/>
                    <a:p>
                      <a:r>
                        <a:t>Journals</a:t>
                      </a:r>
                    </a:p>
                  </a:txBody>
                  <a:tcPr/>
                </a:tc>
                <a:tc>
                  <a:txBody>
                    <a:bodyPr/>
                    <a:lstStyle/>
                    <a:p>
                      <a:r>
                        <a:t>Data protection methods</a:t>
                      </a:r>
                    </a:p>
                  </a:txBody>
                  <a:tcPr/>
                </a:tc>
                <a:tc>
                  <a:txBody>
                    <a:bodyPr/>
                    <a:lstStyle/>
                    <a:p>
                      <a:r>
                        <a:t>Client-side is safer</a:t>
                      </a:r>
                    </a:p>
                  </a:txBody>
                  <a:tcPr/>
                </a:tc>
                <a:extLst>
                  <a:ext uri="{0D108BD9-81ED-4DB2-BD59-A6C34878D82A}">
                    <a16:rowId xmlns:a16="http://schemas.microsoft.com/office/drawing/2014/main" val="10002"/>
                  </a:ext>
                </a:extLst>
              </a:tr>
              <a:tr h="914400">
                <a:tc>
                  <a:txBody>
                    <a:bodyPr/>
                    <a:lstStyle/>
                    <a:p>
                      <a:r>
                        <a:t>Standards</a:t>
                      </a:r>
                    </a:p>
                  </a:txBody>
                  <a:tcPr/>
                </a:tc>
                <a:tc>
                  <a:txBody>
                    <a:bodyPr/>
                    <a:lstStyle/>
                    <a:p>
                      <a:r>
                        <a:t>AWS &amp; NIST</a:t>
                      </a:r>
                    </a:p>
                  </a:txBody>
                  <a:tcPr/>
                </a:tc>
                <a:tc>
                  <a:txBody>
                    <a:bodyPr/>
                    <a:lstStyle/>
                    <a:p>
                      <a:r>
                        <a:rPr dirty="0"/>
                        <a:t>Recommend encryption</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Literature Review Summary</a:t>
            </a:r>
          </a:p>
        </p:txBody>
      </p:sp>
      <p:sp>
        <p:nvSpPr>
          <p:cNvPr id="3" name="Content Placeholder 2"/>
          <p:cNvSpPr>
            <a:spLocks noGrp="1"/>
          </p:cNvSpPr>
          <p:nvPr>
            <p:ph idx="1"/>
          </p:nvPr>
        </p:nvSpPr>
        <p:spPr>
          <a:xfrm>
            <a:off x="727586" y="1691148"/>
            <a:ext cx="10854813" cy="4184294"/>
          </a:xfrm>
        </p:spPr>
        <p:txBody>
          <a:bodyPr>
            <a:normAutofit fontScale="25000" lnSpcReduction="20000"/>
          </a:bodyPr>
          <a:lstStyle/>
          <a:p>
            <a:pPr marL="0" indent="0" algn="just">
              <a:buNone/>
            </a:pPr>
            <a:r>
              <a:rPr lang="en-US" sz="8000" dirty="0"/>
              <a:t>Encryption plays a critical role in securing data stored in cloud environments by protecting it from unauthorized access, breaches, and potential misuse. Among the various approaches, client-side encryption is considered more secure because it allows users to encrypt their data before uploading it to cloud platforms such as Amazon S3, ensuring that only encrypted information is stored remotely. This gives users complete control over their encryption keys and reduces dependence on the cloud service provider for data security. However, despite its advantages, client-side encryption introduces several challenges that cannot be ignored. One of the major issues is key management, which involves securely generating, storing, and distributing encryption keys without compromising them. If keys are lost or mishandled, data recovery becomes extremely difficult or even impossible. Additionally, implementing client-side encryption increases system complexity, as developers must integrate encryption algorithms, manage keys, and ensure compatibility with cloud services. These factors can make the system harder to design, maintain, and scale efficiently. Therefore, there is a growing need for simplified and user-friendly solutions that can provide strong encryption while minimizing complexity, ensuring both high security and ease of use in cloud data storage systems.</a:t>
            </a:r>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Existing System</a:t>
            </a: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In the current system, data is typically uploaded directly to Amazon S3, where users may optionally enable server-side encryption to protect stored information. While this method provides a basic level of security, the encryption process is handled entirely by AWS, including the generation, storage, and management of encryption keys. As a result, users have limited control over how their data is secured, which can raise concerns regarding privacy and trust. Since the cloud provider manages the keys, there is a dependency on its internal security mechanisms, and users must rely on the provider to prevent unauthorized access or potential insider threats. Additionally, data may be exposed during transmission if not properly secured before upload. This centralized control over encryption reduces transparency and flexibility for users who require higher levels of data protection. Therefore, although server-side encryption offers convenience, it does not provide complete control or assurance of security from the user’s perspective, highlighting the need for more secure approaches such as client-side encryption.</a:t>
            </a:r>
          </a:p>
          <a:p>
            <a:pPr algn="just"/>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43381"/>
            <a:ext cx="7998542" cy="971302"/>
          </a:xfrm>
        </p:spPr>
        <p:txBody>
          <a:bodyPr>
            <a:normAutofit/>
          </a:bodyPr>
          <a:lstStyle/>
          <a:p>
            <a:r>
              <a:rPr sz="4800" dirty="0"/>
              <a:t>Limitations</a:t>
            </a:r>
          </a:p>
        </p:txBody>
      </p:sp>
      <p:sp>
        <p:nvSpPr>
          <p:cNvPr id="7" name="Rectangle 4">
            <a:extLst>
              <a:ext uri="{FF2B5EF4-FFF2-40B4-BE49-F238E27FC236}">
                <a16:creationId xmlns:a16="http://schemas.microsoft.com/office/drawing/2014/main" id="{2A89501E-9321-6255-112C-537F6BFD0F95}"/>
              </a:ext>
            </a:extLst>
          </p:cNvPr>
          <p:cNvSpPr>
            <a:spLocks noChangeArrowheads="1"/>
          </p:cNvSpPr>
          <p:nvPr/>
        </p:nvSpPr>
        <p:spPr bwMode="auto">
          <a:xfrm>
            <a:off x="639097" y="2462085"/>
            <a:ext cx="11051458"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Lack of full user control over encryption keys and security settings</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Possible data exposure during transmission or processing</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Risk of unauthorized access, including insider threats</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Limited flexibility and customization in security mechanisms</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Dependency on Amazon S3 for key management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4806"/>
            <a:ext cx="8229600" cy="1143000"/>
          </a:xfrm>
        </p:spPr>
        <p:txBody>
          <a:bodyPr/>
          <a:lstStyle/>
          <a:p>
            <a:r>
              <a:t>Proposed System</a:t>
            </a: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The proposed system focuses on enhancing data security by implementing client-side encryption before uploading files to cloud storage services such as Amazon S3. In this approach, data is encrypted on the user’s device using strong encryption algorithms before it is transmitted to the cloud, ensuring that only encrypted (ciphertext) data is stored in the cloud environment. This significantly reduces the risk of data breaches, as even if unauthorized users gain access to the stored data, they will not be able to interpret it without the correct decryption keys. The system also ensures that only authorized users who possess the appropriate keys can decrypt and access the original data, thereby maintaining strict confidentiality and privacy. Additionally, this method eliminates dependency on the cloud provider for encryption management, giving users complete control over their security mechanisms. By securing data at the source and throughout its lifecycle, the proposed system provides a more robust and reliable solution for protecting sensitive information in cloud storage environments.</a:t>
            </a:r>
          </a:p>
          <a:p>
            <a:pPr algn="just"/>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49493"/>
            <a:ext cx="8229600" cy="1143000"/>
          </a:xfrm>
        </p:spPr>
        <p:txBody>
          <a:bodyPr>
            <a:normAutofit/>
          </a:bodyPr>
          <a:lstStyle/>
          <a:p>
            <a:r>
              <a:rPr sz="5400" dirty="0"/>
              <a:t>Objectives</a:t>
            </a:r>
          </a:p>
        </p:txBody>
      </p:sp>
      <p:sp>
        <p:nvSpPr>
          <p:cNvPr id="4" name="Rectangle 1">
            <a:extLst>
              <a:ext uri="{FF2B5EF4-FFF2-40B4-BE49-F238E27FC236}">
                <a16:creationId xmlns:a16="http://schemas.microsoft.com/office/drawing/2014/main" id="{CDD72092-4CD7-CA5A-4726-FDF8E23C3282}"/>
              </a:ext>
            </a:extLst>
          </p:cNvPr>
          <p:cNvSpPr>
            <a:spLocks noChangeArrowheads="1"/>
          </p:cNvSpPr>
          <p:nvPr/>
        </p:nvSpPr>
        <p:spPr bwMode="auto">
          <a:xfrm>
            <a:off x="698090" y="2494856"/>
            <a:ext cx="1076632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Implement client-side encryption to secure data before uploading</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Ensure sensitive data remains encrypted in Amazon S3</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Improve data privacy and confidentiality</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Increase user control over encryption keys and security</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Reduce risks of data breaches and unauthorized access</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Maintain a balance between security and system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a:t>Constraints</a:t>
            </a:r>
          </a:p>
        </p:txBody>
      </p:sp>
      <p:sp>
        <p:nvSpPr>
          <p:cNvPr id="4" name="Rectangle 1">
            <a:extLst>
              <a:ext uri="{FF2B5EF4-FFF2-40B4-BE49-F238E27FC236}">
                <a16:creationId xmlns:a16="http://schemas.microsoft.com/office/drawing/2014/main" id="{A4155B63-D2AA-ACF5-D1BE-9199A8126BF2}"/>
              </a:ext>
            </a:extLst>
          </p:cNvPr>
          <p:cNvSpPr>
            <a:spLocks noChangeArrowheads="1"/>
          </p:cNvSpPr>
          <p:nvPr/>
        </p:nvSpPr>
        <p:spPr bwMode="auto">
          <a:xfrm>
            <a:off x="727587" y="1751203"/>
            <a:ext cx="11051458"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Font typeface="Courier New" panose="02070309020205020404" pitchFamily="49" charset="0"/>
              <a:buChar char="o"/>
            </a:pPr>
            <a:endParaRPr lang="en-US" altLang="en-US" sz="2000" dirty="0">
              <a:latin typeface="Arial" panose="020B0604020202020204" pitchFamily="34" charset="0"/>
            </a:endParaRP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High complexity in implementing encryption algorithms correctly</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Challenges in secure encryption key generation and management</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Additional processing time due to encryption and decryption</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Limited project duration and strict deadlines</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Need to balance development time with testing and deployment</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Resource constraints due to Amazon S3 free-tier limitations</a:t>
            </a:r>
          </a:p>
          <a:p>
            <a:pPr marL="285750" indent="-285750"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Limited system resources (CPU, memory, storage) for handling encryption tasks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a:t>Technical Feasibility</a:t>
            </a:r>
          </a:p>
        </p:txBody>
      </p:sp>
      <p:sp>
        <p:nvSpPr>
          <p:cNvPr id="4" name="Rectangle 1">
            <a:extLst>
              <a:ext uri="{FF2B5EF4-FFF2-40B4-BE49-F238E27FC236}">
                <a16:creationId xmlns:a16="http://schemas.microsoft.com/office/drawing/2014/main" id="{1BDF1E60-EC66-8D3C-DE6E-FE5604F48791}"/>
              </a:ext>
            </a:extLst>
          </p:cNvPr>
          <p:cNvSpPr>
            <a:spLocks noGrp="1" noChangeArrowheads="1"/>
          </p:cNvSpPr>
          <p:nvPr>
            <p:ph idx="1"/>
          </p:nvPr>
        </p:nvSpPr>
        <p:spPr bwMode="auto">
          <a:xfrm>
            <a:off x="422787" y="1700604"/>
            <a:ext cx="10884310"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defTabSz="914400" eaLnBrk="0" fontAlgn="base" hangingPunct="0">
              <a:spcBef>
                <a:spcPct val="0"/>
              </a:spcBef>
              <a:spcAft>
                <a:spcPct val="0"/>
              </a:spcAft>
              <a:buNone/>
            </a:pPr>
            <a:endParaRPr lang="en-US" altLang="en-US" sz="1800" dirty="0">
              <a:latin typeface="Arial" panose="020B0604020202020204" pitchFamily="34" charset="0"/>
            </a:endParaRP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Implementation is feasible using strong encryption algorithms like AES and RSA</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Supported by programming languages such as Python and Java</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Easy integration with Amazon S3 using AWS SDKs</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No requirement for specialized or high-end hardware</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Can be developed using standard development tools and libraries</a:t>
            </a:r>
          </a:p>
          <a:p>
            <a:pPr marL="0" indent="0" defTabSz="914400" eaLnBrk="0" fontAlgn="base" hangingPunct="0">
              <a:spcBef>
                <a:spcPct val="0"/>
              </a:spcBef>
              <a:spcAft>
                <a:spcPct val="0"/>
              </a:spcAft>
              <a:buNone/>
            </a:pPr>
            <a:endParaRPr lang="en-US" altLang="en-US" sz="1800"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4329" y="846138"/>
            <a:ext cx="8229600" cy="1143000"/>
          </a:xfrm>
        </p:spPr>
        <p:txBody>
          <a:bodyPr>
            <a:normAutofit/>
          </a:bodyPr>
          <a:lstStyle/>
          <a:p>
            <a:r>
              <a:rPr sz="5400" dirty="0"/>
              <a:t>Economic Feasibility</a:t>
            </a:r>
          </a:p>
        </p:txBody>
      </p:sp>
      <p:sp>
        <p:nvSpPr>
          <p:cNvPr id="4" name="Rectangle 1">
            <a:extLst>
              <a:ext uri="{FF2B5EF4-FFF2-40B4-BE49-F238E27FC236}">
                <a16:creationId xmlns:a16="http://schemas.microsoft.com/office/drawing/2014/main" id="{A96DEC93-F2FF-1066-6ACD-5351854F0E05}"/>
              </a:ext>
            </a:extLst>
          </p:cNvPr>
          <p:cNvSpPr>
            <a:spLocks noGrp="1" noChangeArrowheads="1"/>
          </p:cNvSpPr>
          <p:nvPr>
            <p:ph idx="1"/>
          </p:nvPr>
        </p:nvSpPr>
        <p:spPr bwMode="auto">
          <a:xfrm>
            <a:off x="511277" y="2223100"/>
            <a:ext cx="10766323"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defTabSz="914400" eaLnBrk="0" fontAlgn="base" hangingPunct="0">
              <a:spcBef>
                <a:spcPct val="0"/>
              </a:spcBef>
              <a:spcAft>
                <a:spcPct val="0"/>
              </a:spcAft>
              <a:buFont typeface="Courier New" panose="02070309020205020404" pitchFamily="49" charset="0"/>
              <a:buChar char="o"/>
            </a:pPr>
            <a:endParaRPr lang="en-US" altLang="en-US" sz="1800" dirty="0">
              <a:latin typeface="Arial" panose="020B0604020202020204" pitchFamily="34" charset="0"/>
            </a:endParaRP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Cost-effective solution using Amazon S3 free-tier services</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Utilizes open-source encryption libraries, reducing software costs</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No need for expensive hardware or infrastructure</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Minimal operational and maintenance expenses</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Suitable for student projects and small-scale implementations</a:t>
            </a:r>
          </a:p>
          <a:p>
            <a:pPr marL="0" indent="0" defTabSz="914400" eaLnBrk="0" fontAlgn="base" hangingPunct="0">
              <a:spcBef>
                <a:spcPct val="0"/>
              </a:spcBef>
              <a:spcAft>
                <a:spcPct val="0"/>
              </a:spcAft>
              <a:buNone/>
            </a:pPr>
            <a:endParaRPr lang="en-US" altLang="en-US" sz="1800"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2083" y="846138"/>
            <a:ext cx="8229600" cy="1143000"/>
          </a:xfrm>
        </p:spPr>
        <p:txBody>
          <a:bodyPr/>
          <a:lstStyle/>
          <a:p>
            <a:r>
              <a:rPr dirty="0"/>
              <a:t>Operational &amp; Schedule Feasibility</a:t>
            </a:r>
          </a:p>
        </p:txBody>
      </p:sp>
      <p:sp>
        <p:nvSpPr>
          <p:cNvPr id="4" name="Rectangle 1">
            <a:extLst>
              <a:ext uri="{FF2B5EF4-FFF2-40B4-BE49-F238E27FC236}">
                <a16:creationId xmlns:a16="http://schemas.microsoft.com/office/drawing/2014/main" id="{A19A3216-4071-CD74-BEE1-ECB911C6DA7A}"/>
              </a:ext>
            </a:extLst>
          </p:cNvPr>
          <p:cNvSpPr>
            <a:spLocks noGrp="1" noChangeArrowheads="1"/>
          </p:cNvSpPr>
          <p:nvPr>
            <p:ph idx="1"/>
          </p:nvPr>
        </p:nvSpPr>
        <p:spPr bwMode="auto">
          <a:xfrm>
            <a:off x="507950" y="1892697"/>
            <a:ext cx="11153107"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defTabSz="914400" eaLnBrk="0" fontAlgn="base" hangingPunct="0">
              <a:spcBef>
                <a:spcPct val="0"/>
              </a:spcBef>
              <a:spcAft>
                <a:spcPct val="0"/>
              </a:spcAft>
              <a:buFont typeface="Courier New" panose="02070309020205020404" pitchFamily="49" charset="0"/>
              <a:buChar char="o"/>
            </a:pPr>
            <a:endParaRPr lang="en-US" altLang="en-US" sz="1800" dirty="0">
              <a:latin typeface="Arial" panose="020B0604020202020204" pitchFamily="34" charset="0"/>
            </a:endParaRP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Simple and user-friendly system design</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Easy for users to upload and manage encrypted data</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Minimal training required for operation</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Can be efficiently implemented with proper planning</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Fits within the given academic project timeline</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Smooth integration with Amazon S3</a:t>
            </a:r>
          </a:p>
          <a:p>
            <a:pPr defTabSz="914400" eaLnBrk="0" fontAlgn="base" hangingPunct="0">
              <a:spcBef>
                <a:spcPct val="0"/>
              </a:spcBef>
              <a:spcAft>
                <a:spcPct val="0"/>
              </a:spcAft>
              <a:buFont typeface="Courier New" panose="02070309020205020404" pitchFamily="49" charset="0"/>
              <a:buChar char="o"/>
            </a:pPr>
            <a:r>
              <a:rPr lang="en-US" altLang="en-US" sz="2800" dirty="0">
                <a:latin typeface="Arial" panose="020B0604020202020204" pitchFamily="34" charset="0"/>
              </a:rPr>
              <a:t>Supports quick deployment and testing within schedule</a:t>
            </a:r>
          </a:p>
          <a:p>
            <a:pPr marL="0" indent="0" defTabSz="914400" eaLnBrk="0" fontAlgn="base" hangingPunct="0">
              <a:spcBef>
                <a:spcPct val="0"/>
              </a:spcBef>
              <a:spcAft>
                <a:spcPct val="0"/>
              </a:spcAft>
              <a:buNone/>
            </a:pPr>
            <a:endParaRPr lang="en-US" altLang="en-US" sz="1800" dirty="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pPr marL="0" indent="0" algn="just">
              <a:buNone/>
            </a:pPr>
            <a:r>
              <a:rPr lang="en-US" sz="2400" dirty="0"/>
              <a:t>Client-side encryption significantly enhances data security and privacy in cloud storage by ensuring that data is encrypted before it is uploaded to services like Amazon S3. This approach gives users full control over their encryption keys and protects sensitive information from unauthorized access, even if the cloud storage is compromised. The project successfully demonstrates a secure and practical solution for safeguarding cloud data using encryption techniques. Additionally, it lays a strong foundation for future improvements, such as advanced key management systems, multi-user access control, and integration with emerging security technologies, making it adaptable and scalable for real-world applications.</a:t>
            </a:r>
          </a:p>
          <a:p>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289" y="549941"/>
            <a:ext cx="10972800" cy="1143000"/>
          </a:xfrm>
        </p:spPr>
        <p:txBody>
          <a:bodyPr/>
          <a:lstStyle/>
          <a:p>
            <a:r>
              <a:rPr sz="4800" dirty="0"/>
              <a:t>References</a:t>
            </a:r>
            <a:endParaRPr dirty="0"/>
          </a:p>
        </p:txBody>
      </p:sp>
      <p:sp>
        <p:nvSpPr>
          <p:cNvPr id="4" name="Rectangle 1">
            <a:extLst>
              <a:ext uri="{FF2B5EF4-FFF2-40B4-BE49-F238E27FC236}">
                <a16:creationId xmlns:a16="http://schemas.microsoft.com/office/drawing/2014/main" id="{B05BE251-3FB9-EBC6-BBE4-00BC01BA1D90}"/>
              </a:ext>
            </a:extLst>
          </p:cNvPr>
          <p:cNvSpPr>
            <a:spLocks noGrp="1" noChangeArrowheads="1"/>
          </p:cNvSpPr>
          <p:nvPr>
            <p:ph idx="1"/>
          </p:nvPr>
        </p:nvSpPr>
        <p:spPr bwMode="auto">
          <a:xfrm>
            <a:off x="879986" y="1813173"/>
            <a:ext cx="10486103"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defTabSz="914400" eaLnBrk="0" fontAlgn="base" hangingPunct="0">
              <a:spcBef>
                <a:spcPct val="0"/>
              </a:spcBef>
              <a:spcAft>
                <a:spcPct val="0"/>
              </a:spcAft>
              <a:buNone/>
            </a:pPr>
            <a:endParaRPr lang="en-US" altLang="en-US" sz="1800" dirty="0">
              <a:latin typeface="Arial" panose="020B0604020202020204" pitchFamily="34" charset="0"/>
            </a:endParaRPr>
          </a:p>
          <a:p>
            <a:pPr defTabSz="914400" eaLnBrk="0" fontAlgn="base" hangingPunct="0">
              <a:spcBef>
                <a:spcPct val="0"/>
              </a:spcBef>
              <a:spcAft>
                <a:spcPct val="0"/>
              </a:spcAft>
              <a:buFont typeface="Courier New" panose="02070309020205020404" pitchFamily="49" charset="0"/>
              <a:buChar char="o"/>
            </a:pPr>
            <a:r>
              <a:rPr lang="en-US" altLang="en-US" sz="2400" dirty="0">
                <a:latin typeface="Arial" panose="020B0604020202020204" pitchFamily="34" charset="0"/>
              </a:rPr>
              <a:t>Amazon Web Services official documentation for S3 and security practices</a:t>
            </a:r>
          </a:p>
          <a:p>
            <a:pPr defTabSz="914400" eaLnBrk="0" fontAlgn="base" hangingPunct="0">
              <a:spcBef>
                <a:spcPct val="0"/>
              </a:spcBef>
              <a:spcAft>
                <a:spcPct val="0"/>
              </a:spcAft>
              <a:buFont typeface="Courier New" panose="02070309020205020404" pitchFamily="49" charset="0"/>
              <a:buChar char="o"/>
            </a:pPr>
            <a:r>
              <a:rPr lang="en-US" altLang="en-US" sz="2400" dirty="0">
                <a:latin typeface="Arial" panose="020B0604020202020204" pitchFamily="34" charset="0"/>
              </a:rPr>
              <a:t>IEEE Xplore digital library for research papers</a:t>
            </a:r>
          </a:p>
          <a:p>
            <a:pPr defTabSz="914400" eaLnBrk="0" fontAlgn="base" hangingPunct="0">
              <a:spcBef>
                <a:spcPct val="0"/>
              </a:spcBef>
              <a:spcAft>
                <a:spcPct val="0"/>
              </a:spcAft>
              <a:buFont typeface="Courier New" panose="02070309020205020404" pitchFamily="49" charset="0"/>
              <a:buChar char="o"/>
            </a:pPr>
            <a:r>
              <a:rPr lang="en-US" altLang="en-US" sz="2400" dirty="0">
                <a:latin typeface="Arial" panose="020B0604020202020204" pitchFamily="34" charset="0"/>
              </a:rPr>
              <a:t>National Institute of Standards and Technology (NIST) guidelines for encryption standards</a:t>
            </a:r>
          </a:p>
          <a:p>
            <a:pPr defTabSz="914400" eaLnBrk="0" fontAlgn="base" hangingPunct="0">
              <a:spcBef>
                <a:spcPct val="0"/>
              </a:spcBef>
              <a:spcAft>
                <a:spcPct val="0"/>
              </a:spcAft>
              <a:buFont typeface="Courier New" panose="02070309020205020404" pitchFamily="49" charset="0"/>
              <a:buChar char="o"/>
            </a:pPr>
            <a:r>
              <a:rPr lang="en-US" altLang="en-US" sz="2400" dirty="0">
                <a:latin typeface="Arial" panose="020B0604020202020204" pitchFamily="34" charset="0"/>
              </a:rPr>
              <a:t>Cloud security journals and publications for latest trends</a:t>
            </a:r>
          </a:p>
          <a:p>
            <a:pPr defTabSz="914400" eaLnBrk="0" fontAlgn="base" hangingPunct="0">
              <a:spcBef>
                <a:spcPct val="0"/>
              </a:spcBef>
              <a:spcAft>
                <a:spcPct val="0"/>
              </a:spcAft>
              <a:buFont typeface="Courier New" panose="02070309020205020404" pitchFamily="49" charset="0"/>
              <a:buChar char="o"/>
            </a:pPr>
            <a:r>
              <a:rPr lang="en-US" altLang="en-US" sz="2400" dirty="0">
                <a:latin typeface="Arial" panose="020B0604020202020204" pitchFamily="34" charset="0"/>
              </a:rPr>
              <a:t>Research articles on encryption techniques and secure data storage</a:t>
            </a:r>
          </a:p>
          <a:p>
            <a:pPr marL="0" indent="0" defTabSz="914400" eaLnBrk="0" fontAlgn="base" hangingPunct="0">
              <a:spcBef>
                <a:spcPct val="0"/>
              </a:spcBef>
              <a:spcAft>
                <a:spcPct val="0"/>
              </a:spcAft>
              <a:buNone/>
            </a:pPr>
            <a:endParaRPr lang="en-US" altLang="en-US" sz="18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275</TotalTime>
  <Words>1540</Words>
  <Application>Microsoft Office PowerPoint</Application>
  <PresentationFormat>Widescreen</PresentationFormat>
  <Paragraphs>105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Abstract</vt:lpstr>
      <vt:lpstr>Agenda / Outline</vt:lpstr>
      <vt:lpstr>Introduction</vt:lpstr>
      <vt:lpstr>Literature Review (Papers)</vt:lpstr>
      <vt:lpstr>Literature Review (Sources)</vt:lpstr>
      <vt:lpstr>Literature Review Summary</vt:lpstr>
      <vt:lpstr>Existing System</vt:lpstr>
      <vt:lpstr>Limitations</vt:lpstr>
      <vt:lpstr>Proposed System</vt:lpstr>
      <vt:lpstr>Objectives</vt:lpstr>
      <vt:lpstr>Constraints</vt:lpstr>
      <vt:lpstr>Technical Feasibility</vt:lpstr>
      <vt:lpstr>Economic Feasibility</vt:lpstr>
      <vt:lpstr>Operational &amp; Schedule Feasibility</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PriyaDarshini Kosana</cp:lastModifiedBy>
  <cp:revision>3</cp:revision>
  <dcterms:created xsi:type="dcterms:W3CDTF">2013-01-27T09:14:16Z</dcterms:created>
  <dcterms:modified xsi:type="dcterms:W3CDTF">2026-03-26T04:58:25Z</dcterms:modified>
  <cp:category/>
</cp:coreProperties>
</file>