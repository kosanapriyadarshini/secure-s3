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Conceptual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UML helps visualize system design.</a:t>
            </a:r>
          </a:p>
          <a:p>
            <a:r>
              <a:t>Conceptual model explains structure.</a:t>
            </a:r>
          </a:p>
          <a:p>
            <a:r>
              <a:t>Used in software engineering.</a:t>
            </a:r>
          </a:p>
          <a:p>
            <a:r>
              <a:t>Includes elements and relationships.</a:t>
            </a:r>
          </a:p>
          <a:p>
            <a:r>
              <a:t>Provides clear understanding.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Modeling Language.</a:t>
            </a:r>
          </a:p>
          <a:p>
            <a:r>
              <a:t>Standard modeling language.</a:t>
            </a:r>
          </a:p>
          <a:p>
            <a:r>
              <a:t>Used for designing systems.</a:t>
            </a:r>
          </a:p>
          <a:p>
            <a:r>
              <a:t>Supports object-oriented approach.</a:t>
            </a:r>
          </a:p>
          <a:p>
            <a:r>
              <a:t>Improves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 system representation.</a:t>
            </a:r>
          </a:p>
          <a:p>
            <a:r>
              <a:t>Focus on concepts not code.</a:t>
            </a:r>
          </a:p>
          <a:p>
            <a:r>
              <a:t>Defines relationships.</a:t>
            </a:r>
          </a:p>
          <a:p>
            <a:r>
              <a:t>Used in early stages.</a:t>
            </a:r>
          </a:p>
          <a:p>
            <a:r>
              <a:t>Helps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Blocks of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Things (elements).</a:t>
            </a:r>
          </a:p>
          <a:p>
            <a:r>
              <a:t>Relationships.</a:t>
            </a:r>
          </a:p>
          <a:p>
            <a:r>
              <a:t>Diagrams.</a:t>
            </a:r>
          </a:p>
          <a:p>
            <a:r>
              <a:t>Work together.</a:t>
            </a:r>
          </a:p>
          <a:p>
            <a:r>
              <a:t>Form complete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Structural: static elements.</a:t>
            </a:r>
          </a:p>
          <a:p>
            <a:r>
              <a:t>Behavioral: dynamic elements.</a:t>
            </a:r>
          </a:p>
          <a:p>
            <a:r>
              <a:t>Grouping: packages.</a:t>
            </a:r>
          </a:p>
          <a:p>
            <a:r>
              <a:t>Annotational: notes.</a:t>
            </a:r>
          </a:p>
          <a:p>
            <a:r>
              <a:t>Basic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Association: link between classes.</a:t>
            </a:r>
          </a:p>
          <a:p>
            <a:r>
              <a:t>Aggregation: weak ownership.</a:t>
            </a:r>
          </a:p>
          <a:p>
            <a:r>
              <a:t>Composition: strong ownership.</a:t>
            </a:r>
          </a:p>
          <a:p>
            <a:r>
              <a:t>Dependency: usage relation.</a:t>
            </a:r>
          </a:p>
          <a:p>
            <a:r>
              <a:t>Generalization: inheritance.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diagram.</a:t>
            </a:r>
          </a:p>
          <a:p>
            <a:r>
              <a:t>Use case diagram.</a:t>
            </a:r>
          </a:p>
          <a:p>
            <a:r>
              <a:t>Sequence diagram.</a:t>
            </a:r>
          </a:p>
          <a:p>
            <a:r>
              <a:t>Activity diagram.</a:t>
            </a:r>
          </a:p>
          <a:p>
            <a:r>
              <a:t>State diagram.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Student</a:t>
            </a:r>
          </a:p>
          <a:p>
            <a:r>
              <a:t>- name</a:t>
            </a:r>
          </a:p>
          <a:p>
            <a:r>
              <a:t>- id</a:t>
            </a:r>
          </a:p>
          <a:p>
            <a:r>
              <a:t>+ getDetails()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Course</a:t>
            </a:r>
          </a:p>
          <a:p>
            <a:r>
              <a:t>- courseName</a:t>
            </a:r>
          </a:p>
          <a:p>
            <a:r>
              <a:t>- code</a:t>
            </a:r>
          </a:p>
          <a:p>
            <a:r>
              <a:t>+ getCourse()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2514600.0"/>
            <a:ext cx="13716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Example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9144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828800"/>
            <a:ext cx="27432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Login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2743200"/>
            <a:ext cx="1828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system clarity.</a:t>
            </a:r>
          </a:p>
          <a:p>
            <a:r>
              <a:t>Easy communication.</a:t>
            </a:r>
          </a:p>
          <a:p>
            <a:r>
              <a:t>Standard notation.</a:t>
            </a:r>
          </a:p>
          <a:p>
            <a:r>
              <a:t>Helps documentation.</a:t>
            </a:r>
          </a:p>
          <a:p>
            <a:r>
              <a:t>Widely 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UML conceptual model is essential.</a:t>
            </a:r>
          </a:p>
          <a:p>
            <a:r>
              <a:t>Helps in design phase.</a:t>
            </a:r>
          </a:p>
          <a:p>
            <a:r>
              <a:t>Improves understanding.</a:t>
            </a:r>
          </a:p>
          <a:p>
            <a:r>
              <a:t>Supports developers.</a:t>
            </a:r>
          </a:p>
          <a:p>
            <a:r>
              <a:t>Important for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